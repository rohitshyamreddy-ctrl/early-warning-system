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2.jpe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8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49787">
            <a:off x="-1893406" y="4208619"/>
            <a:ext cx="21767755" cy="7121539"/>
            <a:chOff x="0" y="0"/>
            <a:chExt cx="29023673" cy="949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22085" y="1422081"/>
            <a:ext cx="8265915" cy="9184350"/>
          </a:xfrm>
          <a:custGeom>
            <a:avLst/>
            <a:gdLst/>
            <a:ahLst/>
            <a:cxnLst/>
            <a:rect r="r" b="b" t="t" l="l"/>
            <a:pathLst>
              <a:path h="9184350" w="8265915">
                <a:moveTo>
                  <a:pt x="0" y="0"/>
                </a:moveTo>
                <a:lnTo>
                  <a:pt x="8265915" y="0"/>
                </a:lnTo>
                <a:lnTo>
                  <a:pt x="8265915" y="9184350"/>
                </a:lnTo>
                <a:lnTo>
                  <a:pt x="0" y="918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821492"/>
            <a:ext cx="2392339" cy="479327"/>
            <a:chOff x="0" y="0"/>
            <a:chExt cx="492251" cy="98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2251" cy="98627"/>
            </a:xfrm>
            <a:custGeom>
              <a:avLst/>
              <a:gdLst/>
              <a:ahLst/>
              <a:cxnLst/>
              <a:rect r="r" b="b" t="t" l="l"/>
              <a:pathLst>
                <a:path h="98627" w="492251">
                  <a:moveTo>
                    <a:pt x="48036" y="0"/>
                  </a:moveTo>
                  <a:lnTo>
                    <a:pt x="444215" y="0"/>
                  </a:lnTo>
                  <a:cubicBezTo>
                    <a:pt x="470744" y="0"/>
                    <a:pt x="492251" y="21507"/>
                    <a:pt x="492251" y="48036"/>
                  </a:cubicBezTo>
                  <a:lnTo>
                    <a:pt x="492251" y="50591"/>
                  </a:lnTo>
                  <a:cubicBezTo>
                    <a:pt x="492251" y="77120"/>
                    <a:pt x="470744" y="98627"/>
                    <a:pt x="444215" y="98627"/>
                  </a:cubicBezTo>
                  <a:lnTo>
                    <a:pt x="48036" y="98627"/>
                  </a:lnTo>
                  <a:cubicBezTo>
                    <a:pt x="35296" y="98627"/>
                    <a:pt x="23078" y="93566"/>
                    <a:pt x="14070" y="84557"/>
                  </a:cubicBezTo>
                  <a:cubicBezTo>
                    <a:pt x="5061" y="75549"/>
                    <a:pt x="0" y="63331"/>
                    <a:pt x="0" y="50591"/>
                  </a:cubicBezTo>
                  <a:lnTo>
                    <a:pt x="0" y="48036"/>
                  </a:lnTo>
                  <a:cubicBezTo>
                    <a:pt x="0" y="21507"/>
                    <a:pt x="21507" y="0"/>
                    <a:pt x="48036" y="0"/>
                  </a:cubicBezTo>
                  <a:close/>
                </a:path>
              </a:pathLst>
            </a:custGeom>
            <a:solidFill>
              <a:srgbClr val="4590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92251" cy="127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6206" y="168329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0" y="0"/>
                </a:lnTo>
                <a:lnTo>
                  <a:pt x="636030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22085" y="1044707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39673">
            <a:off x="15715112" y="473106"/>
            <a:ext cx="926099" cy="855869"/>
          </a:xfrm>
          <a:custGeom>
            <a:avLst/>
            <a:gdLst/>
            <a:ahLst/>
            <a:cxnLst/>
            <a:rect r="r" b="b" t="t" l="l"/>
            <a:pathLst>
              <a:path h="855869" w="926099">
                <a:moveTo>
                  <a:pt x="0" y="0"/>
                </a:moveTo>
                <a:lnTo>
                  <a:pt x="926099" y="0"/>
                </a:lnTo>
                <a:lnTo>
                  <a:pt x="926099" y="855869"/>
                </a:lnTo>
                <a:lnTo>
                  <a:pt x="0" y="8558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126581">
            <a:off x="16160054" y="578279"/>
            <a:ext cx="698492" cy="645523"/>
          </a:xfrm>
          <a:custGeom>
            <a:avLst/>
            <a:gdLst/>
            <a:ahLst/>
            <a:cxnLst/>
            <a:rect r="r" b="b" t="t" l="l"/>
            <a:pathLst>
              <a:path h="645523" w="698492">
                <a:moveTo>
                  <a:pt x="0" y="0"/>
                </a:moveTo>
                <a:lnTo>
                  <a:pt x="698492" y="0"/>
                </a:lnTo>
                <a:lnTo>
                  <a:pt x="698492" y="645523"/>
                </a:lnTo>
                <a:lnTo>
                  <a:pt x="0" y="6455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365076">
            <a:off x="14883890" y="715721"/>
            <a:ext cx="401052" cy="370639"/>
          </a:xfrm>
          <a:custGeom>
            <a:avLst/>
            <a:gdLst/>
            <a:ahLst/>
            <a:cxnLst/>
            <a:rect r="r" b="b" t="t" l="l"/>
            <a:pathLst>
              <a:path h="370639" w="401052">
                <a:moveTo>
                  <a:pt x="0" y="0"/>
                </a:moveTo>
                <a:lnTo>
                  <a:pt x="401053" y="0"/>
                </a:lnTo>
                <a:lnTo>
                  <a:pt x="401053" y="370639"/>
                </a:lnTo>
                <a:lnTo>
                  <a:pt x="0" y="370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85734">
            <a:off x="4966560" y="7477011"/>
            <a:ext cx="1351730" cy="3653325"/>
          </a:xfrm>
          <a:custGeom>
            <a:avLst/>
            <a:gdLst/>
            <a:ahLst/>
            <a:cxnLst/>
            <a:rect r="r" b="b" t="t" l="l"/>
            <a:pathLst>
              <a:path h="3653325" w="1351730">
                <a:moveTo>
                  <a:pt x="0" y="0"/>
                </a:moveTo>
                <a:lnTo>
                  <a:pt x="1351730" y="0"/>
                </a:lnTo>
                <a:lnTo>
                  <a:pt x="135173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2236" y="826330"/>
            <a:ext cx="10851431" cy="78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536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CMStalin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070995"/>
            <a:ext cx="6488231" cy="198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Rohit shyam Reddy (1DS24EE076)</a:t>
            </a:r>
          </a:p>
          <a:p>
            <a:pPr algn="l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Sindhu S  K (1DS24EE094)</a:t>
            </a:r>
          </a:p>
          <a:p>
            <a:pPr algn="l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Sushan Shetty (1DS24EE101)</a:t>
            </a:r>
          </a:p>
          <a:p>
            <a:pPr algn="l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William Carey(1DS24EE114)</a:t>
            </a:r>
          </a:p>
          <a:p>
            <a:pPr algn="l">
              <a:lnSpc>
                <a:spcPts val="313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64437" y="5898261"/>
            <a:ext cx="2120865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ntation By: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2236" y="1858335"/>
            <a:ext cx="10851431" cy="198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5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Name: EWS(Early Warning System)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236" y="4012194"/>
            <a:ext cx="84048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“Commanding Data, Safeguarding Lives”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060533" y="153377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1440" y="1454389"/>
            <a:ext cx="11109282" cy="105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9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9271" y="2992889"/>
            <a:ext cx="10897879" cy="432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225" indent="-360613" lvl="1">
              <a:lnSpc>
                <a:spcPts val="3440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​The Problem: Current health monitors are "reactive." They beep only after a patient’s vitals cross a dangerous threshold.</a:t>
            </a:r>
          </a:p>
          <a:p>
            <a:pPr algn="l">
              <a:lnSpc>
                <a:spcPts val="3440"/>
              </a:lnSpc>
            </a:pPr>
          </a:p>
          <a:p>
            <a:pPr algn="l" marL="721225" indent="-360613" lvl="1">
              <a:lnSpc>
                <a:spcPts val="3440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Who is fac</a:t>
            </a:r>
            <a:r>
              <a:rPr lang="en-US" b="true" sz="33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ing it: ICU nurses, emergency responders, and home-care patients.</a:t>
            </a:r>
          </a:p>
          <a:p>
            <a:pPr algn="l">
              <a:lnSpc>
                <a:spcPts val="3440"/>
              </a:lnSpc>
            </a:pPr>
          </a:p>
          <a:p>
            <a:pPr algn="l" marL="721225" indent="-360613" lvl="1">
              <a:lnSpc>
                <a:spcPts val="3440"/>
              </a:lnSpc>
              <a:buFont typeface="Arial"/>
              <a:buChar char="•"/>
            </a:pPr>
            <a:r>
              <a:rPr lang="en-US" b="true" sz="33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​Why it matters: In critical care, every second counts. Waiting for a "crash" before acting leads to preventable complications.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81288" y="688561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2669" y="262988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6008" y="3726804"/>
            <a:ext cx="9417305" cy="4875546"/>
            <a:chOff x="0" y="0"/>
            <a:chExt cx="1937717" cy="1003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41995" y="3436913"/>
            <a:ext cx="9417305" cy="4875546"/>
            <a:chOff x="0" y="0"/>
            <a:chExt cx="1937717" cy="10031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-1089183" y="2406480"/>
            <a:ext cx="9294209" cy="8229600"/>
          </a:xfrm>
          <a:custGeom>
            <a:avLst/>
            <a:gdLst/>
            <a:ahLst/>
            <a:cxnLst/>
            <a:rect r="r" b="b" t="t" l="l"/>
            <a:pathLst>
              <a:path h="8229600" w="9294209">
                <a:moveTo>
                  <a:pt x="9294209" y="0"/>
                </a:moveTo>
                <a:lnTo>
                  <a:pt x="0" y="0"/>
                </a:lnTo>
                <a:lnTo>
                  <a:pt x="0" y="8229600"/>
                </a:lnTo>
                <a:lnTo>
                  <a:pt x="9294209" y="8229600"/>
                </a:lnTo>
                <a:lnTo>
                  <a:pt x="929420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7314" y="1260641"/>
            <a:ext cx="11285999" cy="10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642153"/>
            <a:ext cx="7403188" cy="431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69" indent="-286085" lvl="1">
              <a:lnSpc>
                <a:spcPts val="2862"/>
              </a:lnSpc>
              <a:buFont typeface="Arial"/>
              <a:buChar char="•"/>
            </a:pPr>
            <a:r>
              <a:rPr lang="en-US" b="true" sz="2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are building: A smart AI monitor that tracks the velocity of vital signs.</a:t>
            </a:r>
          </a:p>
          <a:p>
            <a:pPr algn="l">
              <a:lnSpc>
                <a:spcPts val="2862"/>
              </a:lnSpc>
            </a:pPr>
          </a:p>
          <a:p>
            <a:pPr algn="l" marL="572169" indent="-286085" lvl="1">
              <a:lnSpc>
                <a:spcPts val="2862"/>
              </a:lnSpc>
              <a:buFont typeface="Arial"/>
              <a:buChar char="•"/>
            </a:pPr>
            <a:r>
              <a:rPr lang="en-US" b="true" sz="2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Solution: Instead of waiting for a hear</a:t>
            </a:r>
            <a:r>
              <a:rPr lang="en-US" b="true" sz="2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rate to hit 120, our EWS detects that it is rising rapidly while SpO₂ is falling.</a:t>
            </a:r>
          </a:p>
          <a:p>
            <a:pPr algn="l">
              <a:lnSpc>
                <a:spcPts val="2862"/>
              </a:lnSpc>
            </a:pPr>
          </a:p>
          <a:p>
            <a:pPr algn="l" marL="572169" indent="-286085" lvl="1">
              <a:lnSpc>
                <a:spcPts val="2862"/>
              </a:lnSpc>
              <a:buFont typeface="Arial"/>
              <a:buChar char="•"/>
            </a:pPr>
            <a:r>
              <a:rPr lang="en-US" b="true" sz="26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Idea: We move the "Alarm" forward in time, giving doctors minutes or hours of head-start to intervene.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02828" y="9050431"/>
            <a:ext cx="6868267" cy="425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Saving Liv</a:t>
            </a:r>
            <a:r>
              <a:rPr lang="en-US" b="true" sz="2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 is Our Commitment.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92669" y="399274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47188" y="8916675"/>
            <a:ext cx="2512684" cy="2512684"/>
          </a:xfrm>
          <a:custGeom>
            <a:avLst/>
            <a:gdLst/>
            <a:ahLst/>
            <a:cxnLst/>
            <a:rect r="r" b="b" t="t" l="l"/>
            <a:pathLst>
              <a:path h="2512684" w="2512684">
                <a:moveTo>
                  <a:pt x="0" y="0"/>
                </a:moveTo>
                <a:lnTo>
                  <a:pt x="2512684" y="0"/>
                </a:lnTo>
                <a:lnTo>
                  <a:pt x="2512684" y="2512685"/>
                </a:lnTo>
                <a:lnTo>
                  <a:pt x="0" y="25126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424" y="265924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68851" y="2994656"/>
            <a:ext cx="4952058" cy="810276"/>
            <a:chOff x="0" y="0"/>
            <a:chExt cx="1937717" cy="317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717" cy="317057"/>
            </a:xfrm>
            <a:custGeom>
              <a:avLst/>
              <a:gdLst/>
              <a:ahLst/>
              <a:cxnLst/>
              <a:rect r="r" b="b" t="t" l="l"/>
              <a:pathLst>
                <a:path h="317057" w="1937717">
                  <a:moveTo>
                    <a:pt x="30535" y="0"/>
                  </a:moveTo>
                  <a:lnTo>
                    <a:pt x="1907183" y="0"/>
                  </a:lnTo>
                  <a:cubicBezTo>
                    <a:pt x="1915281" y="0"/>
                    <a:pt x="1923048" y="3217"/>
                    <a:pt x="1928774" y="8943"/>
                  </a:cubicBezTo>
                  <a:cubicBezTo>
                    <a:pt x="1934500" y="14670"/>
                    <a:pt x="1937717" y="22436"/>
                    <a:pt x="1937717" y="30535"/>
                  </a:cubicBezTo>
                  <a:lnTo>
                    <a:pt x="1937717" y="286522"/>
                  </a:lnTo>
                  <a:cubicBezTo>
                    <a:pt x="1937717" y="294621"/>
                    <a:pt x="1934500" y="302387"/>
                    <a:pt x="1928774" y="308114"/>
                  </a:cubicBezTo>
                  <a:cubicBezTo>
                    <a:pt x="1923048" y="313840"/>
                    <a:pt x="1915281" y="317057"/>
                    <a:pt x="1907183" y="317057"/>
                  </a:cubicBezTo>
                  <a:lnTo>
                    <a:pt x="30535" y="317057"/>
                  </a:lnTo>
                  <a:cubicBezTo>
                    <a:pt x="22436" y="317057"/>
                    <a:pt x="14670" y="313840"/>
                    <a:pt x="8943" y="308114"/>
                  </a:cubicBezTo>
                  <a:cubicBezTo>
                    <a:pt x="3217" y="302387"/>
                    <a:pt x="0" y="294621"/>
                    <a:pt x="0" y="286522"/>
                  </a:cubicBezTo>
                  <a:lnTo>
                    <a:pt x="0" y="30535"/>
                  </a:lnTo>
                  <a:cubicBezTo>
                    <a:pt x="0" y="22436"/>
                    <a:pt x="3217" y="14670"/>
                    <a:pt x="8943" y="8943"/>
                  </a:cubicBezTo>
                  <a:cubicBezTo>
                    <a:pt x="14670" y="3217"/>
                    <a:pt x="22436" y="0"/>
                    <a:pt x="30535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37717" cy="34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61572" y="2920161"/>
            <a:ext cx="4952058" cy="810276"/>
            <a:chOff x="0" y="0"/>
            <a:chExt cx="1937717" cy="3170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7717" cy="317057"/>
            </a:xfrm>
            <a:custGeom>
              <a:avLst/>
              <a:gdLst/>
              <a:ahLst/>
              <a:cxnLst/>
              <a:rect r="r" b="b" t="t" l="l"/>
              <a:pathLst>
                <a:path h="317057" w="1937717">
                  <a:moveTo>
                    <a:pt x="30535" y="0"/>
                  </a:moveTo>
                  <a:lnTo>
                    <a:pt x="1907183" y="0"/>
                  </a:lnTo>
                  <a:cubicBezTo>
                    <a:pt x="1915281" y="0"/>
                    <a:pt x="1923048" y="3217"/>
                    <a:pt x="1928774" y="8943"/>
                  </a:cubicBezTo>
                  <a:cubicBezTo>
                    <a:pt x="1934500" y="14670"/>
                    <a:pt x="1937717" y="22436"/>
                    <a:pt x="1937717" y="30535"/>
                  </a:cubicBezTo>
                  <a:lnTo>
                    <a:pt x="1937717" y="286522"/>
                  </a:lnTo>
                  <a:cubicBezTo>
                    <a:pt x="1937717" y="294621"/>
                    <a:pt x="1934500" y="302387"/>
                    <a:pt x="1928774" y="308114"/>
                  </a:cubicBezTo>
                  <a:cubicBezTo>
                    <a:pt x="1923048" y="313840"/>
                    <a:pt x="1915281" y="317057"/>
                    <a:pt x="1907183" y="317057"/>
                  </a:cubicBezTo>
                  <a:lnTo>
                    <a:pt x="30535" y="317057"/>
                  </a:lnTo>
                  <a:cubicBezTo>
                    <a:pt x="22436" y="317057"/>
                    <a:pt x="14670" y="313840"/>
                    <a:pt x="8943" y="308114"/>
                  </a:cubicBezTo>
                  <a:cubicBezTo>
                    <a:pt x="3217" y="302387"/>
                    <a:pt x="0" y="294621"/>
                    <a:pt x="0" y="286522"/>
                  </a:cubicBezTo>
                  <a:lnTo>
                    <a:pt x="0" y="30535"/>
                  </a:lnTo>
                  <a:cubicBezTo>
                    <a:pt x="0" y="22436"/>
                    <a:pt x="3217" y="14670"/>
                    <a:pt x="8943" y="8943"/>
                  </a:cubicBezTo>
                  <a:cubicBezTo>
                    <a:pt x="14670" y="3217"/>
                    <a:pt x="22436" y="0"/>
                    <a:pt x="305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37717" cy="34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271444" y="744138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45315" y="-444274"/>
            <a:ext cx="2679247" cy="2679247"/>
          </a:xfrm>
          <a:custGeom>
            <a:avLst/>
            <a:gdLst/>
            <a:ahLst/>
            <a:cxnLst/>
            <a:rect r="r" b="b" t="t" l="l"/>
            <a:pathLst>
              <a:path h="2679247" w="2679247">
                <a:moveTo>
                  <a:pt x="0" y="0"/>
                </a:moveTo>
                <a:lnTo>
                  <a:pt x="2679247" y="0"/>
                </a:lnTo>
                <a:lnTo>
                  <a:pt x="2679247" y="2679248"/>
                </a:lnTo>
                <a:lnTo>
                  <a:pt x="0" y="2679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105912">
            <a:off x="9482686" y="5225455"/>
            <a:ext cx="2248061" cy="2507131"/>
          </a:xfrm>
          <a:custGeom>
            <a:avLst/>
            <a:gdLst/>
            <a:ahLst/>
            <a:cxnLst/>
            <a:rect r="r" b="b" t="t" l="l"/>
            <a:pathLst>
              <a:path h="2507131" w="2248061">
                <a:moveTo>
                  <a:pt x="0" y="0"/>
                </a:moveTo>
                <a:lnTo>
                  <a:pt x="2248061" y="0"/>
                </a:lnTo>
                <a:lnTo>
                  <a:pt x="2248061" y="2507131"/>
                </a:lnTo>
                <a:lnTo>
                  <a:pt x="0" y="25071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177034" y="4128940"/>
            <a:ext cx="6547528" cy="6535623"/>
          </a:xfrm>
          <a:custGeom>
            <a:avLst/>
            <a:gdLst/>
            <a:ahLst/>
            <a:cxnLst/>
            <a:rect r="r" b="b" t="t" l="l"/>
            <a:pathLst>
              <a:path h="6535623" w="6547528">
                <a:moveTo>
                  <a:pt x="0" y="0"/>
                </a:moveTo>
                <a:lnTo>
                  <a:pt x="6547528" y="0"/>
                </a:lnTo>
                <a:lnTo>
                  <a:pt x="6547528" y="6535624"/>
                </a:lnTo>
                <a:lnTo>
                  <a:pt x="0" y="65356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21440" y="1784076"/>
            <a:ext cx="13620485" cy="10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&amp; Architecture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440" y="4157515"/>
            <a:ext cx="9499988" cy="12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31" indent="-507365" lvl="1">
              <a:lnSpc>
                <a:spcPts val="4841"/>
              </a:lnSpc>
              <a:buFont typeface="Arial"/>
              <a:buChar char="•"/>
            </a:pPr>
            <a:r>
              <a:rPr lang="en-US" b="true" sz="4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Front-End: Node.JS</a:t>
            </a:r>
          </a:p>
          <a:p>
            <a:pPr algn="l" marL="1014731" indent="-507365" lvl="1">
              <a:lnSpc>
                <a:spcPts val="4841"/>
              </a:lnSpc>
              <a:buFont typeface="Arial"/>
              <a:buChar char="•"/>
            </a:pPr>
            <a:r>
              <a:rPr lang="en-US" b="true" sz="4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Brain : Python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62976" y="3191652"/>
            <a:ext cx="4321963" cy="25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egrated Care, Better Outcomes.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1440" y="1454389"/>
            <a:ext cx="12783417" cy="10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&amp; Demo-Flow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81288" y="688561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2669" y="373848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426834" y="3993971"/>
            <a:ext cx="9417305" cy="4875546"/>
            <a:chOff x="0" y="0"/>
            <a:chExt cx="1937717" cy="10031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46865" y="3849025"/>
            <a:ext cx="8857368" cy="4585654"/>
            <a:chOff x="0" y="0"/>
            <a:chExt cx="1937717" cy="10031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7072" y="0"/>
                  </a:moveTo>
                  <a:lnTo>
                    <a:pt x="1920646" y="0"/>
                  </a:lnTo>
                  <a:cubicBezTo>
                    <a:pt x="1930074" y="0"/>
                    <a:pt x="1937717" y="7643"/>
                    <a:pt x="1937717" y="17072"/>
                  </a:cubicBezTo>
                  <a:lnTo>
                    <a:pt x="1937717" y="986127"/>
                  </a:lnTo>
                  <a:cubicBezTo>
                    <a:pt x="1937717" y="995556"/>
                    <a:pt x="1930074" y="1003199"/>
                    <a:pt x="1920646" y="1003199"/>
                  </a:cubicBezTo>
                  <a:lnTo>
                    <a:pt x="17072" y="1003199"/>
                  </a:lnTo>
                  <a:cubicBezTo>
                    <a:pt x="7643" y="1003199"/>
                    <a:pt x="0" y="995556"/>
                    <a:pt x="0" y="986127"/>
                  </a:cubicBezTo>
                  <a:lnTo>
                    <a:pt x="0" y="17072"/>
                  </a:lnTo>
                  <a:cubicBezTo>
                    <a:pt x="0" y="7643"/>
                    <a:pt x="7643" y="0"/>
                    <a:pt x="1707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6067" y="4605558"/>
            <a:ext cx="7711984" cy="307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78" indent="-303589" lvl="1">
              <a:lnSpc>
                <a:spcPts val="3037"/>
              </a:lnSpc>
              <a:buFont typeface="Arial"/>
              <a:buChar char="•"/>
            </a:pPr>
            <a:r>
              <a:rPr lang="en-US" b="true" sz="28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</a:p>
          <a:p>
            <a:pPr algn="l" marL="607178" indent="-303589" lvl="1">
              <a:lnSpc>
                <a:spcPts val="3037"/>
              </a:lnSpc>
              <a:buFont typeface="Arial"/>
              <a:buChar char="•"/>
            </a:pPr>
            <a:r>
              <a:rPr lang="en-US" b="true" sz="28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Slope-Based Alerting: Mathematical detection of "Rising" vs "Stable" vitals.</a:t>
            </a:r>
          </a:p>
          <a:p>
            <a:pPr algn="l" marL="607178" indent="-303589" lvl="1">
              <a:lnSpc>
                <a:spcPts val="3037"/>
              </a:lnSpc>
              <a:buFont typeface="Arial"/>
              <a:buChar char="•"/>
            </a:pPr>
            <a:r>
              <a:rPr lang="en-US" b="true" sz="28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Cardiopulmonary Correlation: Flags the dangerous "X-pattern" (HR up, SpO₂ do</a:t>
            </a:r>
            <a:r>
              <a:rPr lang="en-US" b="true" sz="28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wn).</a:t>
            </a:r>
          </a:p>
          <a:p>
            <a:pPr algn="l" marL="607178" indent="-303589" lvl="1">
              <a:lnSpc>
                <a:spcPts val="3037"/>
              </a:lnSpc>
              <a:buFont typeface="Arial"/>
              <a:buChar char="•"/>
            </a:pPr>
            <a:r>
              <a:rPr lang="en-US" b="true" sz="28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Human-Readable Insights: Explains exactly why a risk level was assigned.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574482" y="398988"/>
            <a:ext cx="1684818" cy="1684818"/>
          </a:xfrm>
          <a:custGeom>
            <a:avLst/>
            <a:gdLst/>
            <a:ahLst/>
            <a:cxnLst/>
            <a:rect r="r" b="b" t="t" l="l"/>
            <a:pathLst>
              <a:path h="1684818" w="1684818">
                <a:moveTo>
                  <a:pt x="0" y="0"/>
                </a:moveTo>
                <a:lnTo>
                  <a:pt x="1684818" y="0"/>
                </a:lnTo>
                <a:lnTo>
                  <a:pt x="1684818" y="1684819"/>
                </a:lnTo>
                <a:lnTo>
                  <a:pt x="0" y="16848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144000" y="4153451"/>
            <a:ext cx="9109265" cy="4716066"/>
            <a:chOff x="0" y="0"/>
            <a:chExt cx="1937717" cy="10031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600" y="0"/>
                  </a:moveTo>
                  <a:lnTo>
                    <a:pt x="1921118" y="0"/>
                  </a:lnTo>
                  <a:cubicBezTo>
                    <a:pt x="1925520" y="0"/>
                    <a:pt x="1929742" y="1749"/>
                    <a:pt x="1932855" y="4862"/>
                  </a:cubicBezTo>
                  <a:cubicBezTo>
                    <a:pt x="1935968" y="7975"/>
                    <a:pt x="1937717" y="12197"/>
                    <a:pt x="1937717" y="16600"/>
                  </a:cubicBezTo>
                  <a:lnTo>
                    <a:pt x="1937717" y="986599"/>
                  </a:lnTo>
                  <a:cubicBezTo>
                    <a:pt x="1937717" y="991002"/>
                    <a:pt x="1935968" y="995224"/>
                    <a:pt x="1932855" y="998337"/>
                  </a:cubicBezTo>
                  <a:cubicBezTo>
                    <a:pt x="1929742" y="1001450"/>
                    <a:pt x="1925520" y="1003199"/>
                    <a:pt x="1921118" y="1003199"/>
                  </a:cubicBezTo>
                  <a:lnTo>
                    <a:pt x="16600" y="1003199"/>
                  </a:lnTo>
                  <a:cubicBezTo>
                    <a:pt x="12197" y="1003199"/>
                    <a:pt x="7975" y="1001450"/>
                    <a:pt x="4862" y="998337"/>
                  </a:cubicBezTo>
                  <a:cubicBezTo>
                    <a:pt x="1749" y="995224"/>
                    <a:pt x="0" y="991002"/>
                    <a:pt x="0" y="986599"/>
                  </a:cubicBezTo>
                  <a:lnTo>
                    <a:pt x="0" y="16600"/>
                  </a:lnTo>
                  <a:cubicBezTo>
                    <a:pt x="0" y="12197"/>
                    <a:pt x="1749" y="7975"/>
                    <a:pt x="4862" y="4862"/>
                  </a:cubicBezTo>
                  <a:cubicBezTo>
                    <a:pt x="7975" y="1749"/>
                    <a:pt x="12197" y="0"/>
                    <a:pt x="16600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64265" y="3993971"/>
            <a:ext cx="8706223" cy="4440708"/>
            <a:chOff x="0" y="0"/>
            <a:chExt cx="1937717" cy="9883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7717" cy="988355"/>
            </a:xfrm>
            <a:custGeom>
              <a:avLst/>
              <a:gdLst/>
              <a:ahLst/>
              <a:cxnLst/>
              <a:rect r="r" b="b" t="t" l="l"/>
              <a:pathLst>
                <a:path h="988355" w="1937717">
                  <a:moveTo>
                    <a:pt x="17368" y="0"/>
                  </a:moveTo>
                  <a:lnTo>
                    <a:pt x="1920349" y="0"/>
                  </a:lnTo>
                  <a:cubicBezTo>
                    <a:pt x="1924956" y="0"/>
                    <a:pt x="1929373" y="1830"/>
                    <a:pt x="1932630" y="5087"/>
                  </a:cubicBezTo>
                  <a:cubicBezTo>
                    <a:pt x="1935887" y="8344"/>
                    <a:pt x="1937717" y="12762"/>
                    <a:pt x="1937717" y="17368"/>
                  </a:cubicBezTo>
                  <a:lnTo>
                    <a:pt x="1937717" y="970987"/>
                  </a:lnTo>
                  <a:cubicBezTo>
                    <a:pt x="1937717" y="980579"/>
                    <a:pt x="1929941" y="988355"/>
                    <a:pt x="1920349" y="988355"/>
                  </a:cubicBezTo>
                  <a:lnTo>
                    <a:pt x="17368" y="988355"/>
                  </a:lnTo>
                  <a:cubicBezTo>
                    <a:pt x="7776" y="988355"/>
                    <a:pt x="0" y="980579"/>
                    <a:pt x="0" y="970987"/>
                  </a:cubicBezTo>
                  <a:lnTo>
                    <a:pt x="0" y="17368"/>
                  </a:lnTo>
                  <a:cubicBezTo>
                    <a:pt x="0" y="7776"/>
                    <a:pt x="7776" y="0"/>
                    <a:pt x="173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937717" cy="1016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452040" y="4557933"/>
            <a:ext cx="8486873" cy="294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2175" indent="-306088" lvl="1">
              <a:lnSpc>
                <a:spcPts val="3969"/>
              </a:lnSpc>
              <a:buFont typeface="Arial"/>
              <a:buChar char="•"/>
            </a:pPr>
            <a:r>
              <a:rPr lang="en-US" b="true" sz="28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Flow:</a:t>
            </a:r>
          </a:p>
          <a:p>
            <a:pPr algn="l" marL="612175" indent="-306088" lvl="1">
              <a:lnSpc>
                <a:spcPts val="3969"/>
              </a:lnSpc>
              <a:buFont typeface="Arial"/>
              <a:buChar char="•"/>
            </a:pPr>
            <a:r>
              <a:rPr lang="en-US" b="true" sz="28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Step 1: Loa</a:t>
            </a:r>
            <a:r>
              <a:rPr lang="en-US" b="true" sz="28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patient vitals (CSV or Manual).</a:t>
            </a:r>
          </a:p>
          <a:p>
            <a:pPr algn="l" marL="612175" indent="-306088" lvl="1">
              <a:lnSpc>
                <a:spcPts val="3969"/>
              </a:lnSpc>
              <a:buFont typeface="Arial"/>
              <a:buChar char="•"/>
            </a:pPr>
            <a:r>
              <a:rPr lang="en-US" b="true" sz="28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2: AI engine processes the last 6-12      readings.</a:t>
            </a:r>
          </a:p>
          <a:p>
            <a:pPr algn="l" marL="612175" indent="-306088" lvl="1">
              <a:lnSpc>
                <a:spcPts val="3969"/>
              </a:lnSpc>
              <a:buFont typeface="Arial"/>
              <a:buChar char="•"/>
            </a:pPr>
            <a:r>
              <a:rPr lang="en-US" b="true" sz="28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System outputs a color-coded Risk   Level and Trend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6008" y="3726804"/>
            <a:ext cx="9417305" cy="4875546"/>
            <a:chOff x="0" y="0"/>
            <a:chExt cx="1937717" cy="1003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41995" y="3436913"/>
            <a:ext cx="9417305" cy="4875546"/>
            <a:chOff x="0" y="0"/>
            <a:chExt cx="1937717" cy="10031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02828" y="9050431"/>
            <a:ext cx="6868267" cy="425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Innovation Sav</a:t>
            </a:r>
            <a:r>
              <a:rPr lang="en-US" b="true" sz="2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 Time and Lives.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47650" y="297259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47188" y="8916675"/>
            <a:ext cx="2512684" cy="2512684"/>
          </a:xfrm>
          <a:custGeom>
            <a:avLst/>
            <a:gdLst/>
            <a:ahLst/>
            <a:cxnLst/>
            <a:rect r="r" b="b" t="t" l="l"/>
            <a:pathLst>
              <a:path h="2512684" w="2512684">
                <a:moveTo>
                  <a:pt x="0" y="0"/>
                </a:moveTo>
                <a:lnTo>
                  <a:pt x="2512684" y="0"/>
                </a:lnTo>
                <a:lnTo>
                  <a:pt x="2512684" y="2512685"/>
                </a:lnTo>
                <a:lnTo>
                  <a:pt x="0" y="2512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77314" y="1232066"/>
            <a:ext cx="11285999" cy="204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99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&amp; Market Value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71095" y="475588"/>
            <a:ext cx="451096" cy="451096"/>
          </a:xfrm>
          <a:custGeom>
            <a:avLst/>
            <a:gdLst/>
            <a:ahLst/>
            <a:cxnLst/>
            <a:rect r="r" b="b" t="t" l="l"/>
            <a:pathLst>
              <a:path h="451096" w="451096">
                <a:moveTo>
                  <a:pt x="0" y="0"/>
                </a:moveTo>
                <a:lnTo>
                  <a:pt x="451096" y="0"/>
                </a:lnTo>
                <a:lnTo>
                  <a:pt x="451096" y="451097"/>
                </a:lnTo>
                <a:lnTo>
                  <a:pt x="0" y="451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73871" y="1613965"/>
            <a:ext cx="2679247" cy="2679247"/>
          </a:xfrm>
          <a:custGeom>
            <a:avLst/>
            <a:gdLst/>
            <a:ahLst/>
            <a:cxnLst/>
            <a:rect r="r" b="b" t="t" l="l"/>
            <a:pathLst>
              <a:path h="2679247" w="2679247">
                <a:moveTo>
                  <a:pt x="0" y="0"/>
                </a:moveTo>
                <a:lnTo>
                  <a:pt x="2679247" y="0"/>
                </a:lnTo>
                <a:lnTo>
                  <a:pt x="2679247" y="2679248"/>
                </a:lnTo>
                <a:lnTo>
                  <a:pt x="0" y="2679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070950" y="2836422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964904" y="3654310"/>
            <a:ext cx="8461818" cy="434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7580" indent="-343790" lvl="1">
              <a:lnSpc>
                <a:spcPts val="3439"/>
              </a:lnSpc>
              <a:buFont typeface="Arial"/>
              <a:buChar char="•"/>
            </a:pPr>
            <a:r>
              <a:rPr lang="en-US" b="true" sz="3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Users: Small clinics, nursing homes, and "Hospital-at-Home" setups.</a:t>
            </a:r>
          </a:p>
          <a:p>
            <a:pPr algn="l">
              <a:lnSpc>
                <a:spcPts val="3439"/>
              </a:lnSpc>
            </a:pPr>
          </a:p>
          <a:p>
            <a:pPr algn="l" marL="687580" indent="-343790" lvl="1">
              <a:lnSpc>
                <a:spcPts val="3439"/>
              </a:lnSpc>
              <a:buFont typeface="Arial"/>
              <a:buChar char="•"/>
            </a:pPr>
            <a:r>
              <a:rPr lang="en-US" b="true" sz="3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</a:t>
            </a:r>
            <a:r>
              <a:rPr lang="en-US" b="true" sz="3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lue: It democratizes high-end ICU trend analysis for affordable devices.</a:t>
            </a:r>
          </a:p>
          <a:p>
            <a:pPr algn="l">
              <a:lnSpc>
                <a:spcPts val="3439"/>
              </a:lnSpc>
            </a:pPr>
          </a:p>
          <a:p>
            <a:pPr algn="l" marL="687580" indent="-343790" lvl="1">
              <a:lnSpc>
                <a:spcPts val="3439"/>
              </a:lnSpc>
              <a:buFont typeface="Arial"/>
              <a:buChar char="•"/>
            </a:pPr>
            <a:r>
              <a:rPr lang="en-US" b="true" sz="3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Scalability: Can easily scale to monitor thousands of patients via a central dashboard.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669" y="265924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71444" y="744138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45315" y="-444274"/>
            <a:ext cx="2679247" cy="2679247"/>
          </a:xfrm>
          <a:custGeom>
            <a:avLst/>
            <a:gdLst/>
            <a:ahLst/>
            <a:cxnLst/>
            <a:rect r="r" b="b" t="t" l="l"/>
            <a:pathLst>
              <a:path h="2679247" w="2679247">
                <a:moveTo>
                  <a:pt x="0" y="0"/>
                </a:moveTo>
                <a:lnTo>
                  <a:pt x="2679247" y="0"/>
                </a:lnTo>
                <a:lnTo>
                  <a:pt x="2679247" y="2679248"/>
                </a:lnTo>
                <a:lnTo>
                  <a:pt x="0" y="2679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71444" y="270263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761572" y="1834246"/>
            <a:ext cx="5059338" cy="884770"/>
            <a:chOff x="0" y="0"/>
            <a:chExt cx="6745784" cy="11796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43039" y="99326"/>
              <a:ext cx="6602745" cy="1080368"/>
              <a:chOff x="0" y="0"/>
              <a:chExt cx="1937717" cy="31705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37717" cy="317057"/>
              </a:xfrm>
              <a:custGeom>
                <a:avLst/>
                <a:gdLst/>
                <a:ahLst/>
                <a:cxnLst/>
                <a:rect r="r" b="b" t="t" l="l"/>
                <a:pathLst>
                  <a:path h="317057" w="1937717">
                    <a:moveTo>
                      <a:pt x="30535" y="0"/>
                    </a:moveTo>
                    <a:lnTo>
                      <a:pt x="1907183" y="0"/>
                    </a:lnTo>
                    <a:cubicBezTo>
                      <a:pt x="1915281" y="0"/>
                      <a:pt x="1923048" y="3217"/>
                      <a:pt x="1928774" y="8943"/>
                    </a:cubicBezTo>
                    <a:cubicBezTo>
                      <a:pt x="1934500" y="14670"/>
                      <a:pt x="1937717" y="22436"/>
                      <a:pt x="1937717" y="30535"/>
                    </a:cubicBezTo>
                    <a:lnTo>
                      <a:pt x="1937717" y="286522"/>
                    </a:lnTo>
                    <a:cubicBezTo>
                      <a:pt x="1937717" y="294621"/>
                      <a:pt x="1934500" y="302387"/>
                      <a:pt x="1928774" y="308114"/>
                    </a:cubicBezTo>
                    <a:cubicBezTo>
                      <a:pt x="1923048" y="313840"/>
                      <a:pt x="1915281" y="317057"/>
                      <a:pt x="1907183" y="317057"/>
                    </a:cubicBezTo>
                    <a:lnTo>
                      <a:pt x="30535" y="317057"/>
                    </a:lnTo>
                    <a:cubicBezTo>
                      <a:pt x="22436" y="317057"/>
                      <a:pt x="14670" y="313840"/>
                      <a:pt x="8943" y="308114"/>
                    </a:cubicBezTo>
                    <a:cubicBezTo>
                      <a:pt x="3217" y="302387"/>
                      <a:pt x="0" y="294621"/>
                      <a:pt x="0" y="286522"/>
                    </a:cubicBezTo>
                    <a:lnTo>
                      <a:pt x="0" y="30535"/>
                    </a:lnTo>
                    <a:cubicBezTo>
                      <a:pt x="0" y="22436"/>
                      <a:pt x="3217" y="14670"/>
                      <a:pt x="8943" y="8943"/>
                    </a:cubicBezTo>
                    <a:cubicBezTo>
                      <a:pt x="14670" y="3217"/>
                      <a:pt x="22436" y="0"/>
                      <a:pt x="30535" y="0"/>
                    </a:cubicBezTo>
                    <a:close/>
                  </a:path>
                </a:pathLst>
              </a:custGeom>
              <a:solidFill>
                <a:srgbClr val="A7C1D2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937717" cy="345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6602745" cy="1080368"/>
              <a:chOff x="0" y="0"/>
              <a:chExt cx="1937717" cy="31705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37717" cy="317057"/>
              </a:xfrm>
              <a:custGeom>
                <a:avLst/>
                <a:gdLst/>
                <a:ahLst/>
                <a:cxnLst/>
                <a:rect r="r" b="b" t="t" l="l"/>
                <a:pathLst>
                  <a:path h="317057" w="1937717">
                    <a:moveTo>
                      <a:pt x="30535" y="0"/>
                    </a:moveTo>
                    <a:lnTo>
                      <a:pt x="1907183" y="0"/>
                    </a:lnTo>
                    <a:cubicBezTo>
                      <a:pt x="1915281" y="0"/>
                      <a:pt x="1923048" y="3217"/>
                      <a:pt x="1928774" y="8943"/>
                    </a:cubicBezTo>
                    <a:cubicBezTo>
                      <a:pt x="1934500" y="14670"/>
                      <a:pt x="1937717" y="22436"/>
                      <a:pt x="1937717" y="30535"/>
                    </a:cubicBezTo>
                    <a:lnTo>
                      <a:pt x="1937717" y="286522"/>
                    </a:lnTo>
                    <a:cubicBezTo>
                      <a:pt x="1937717" y="294621"/>
                      <a:pt x="1934500" y="302387"/>
                      <a:pt x="1928774" y="308114"/>
                    </a:cubicBezTo>
                    <a:cubicBezTo>
                      <a:pt x="1923048" y="313840"/>
                      <a:pt x="1915281" y="317057"/>
                      <a:pt x="1907183" y="317057"/>
                    </a:cubicBezTo>
                    <a:lnTo>
                      <a:pt x="30535" y="317057"/>
                    </a:lnTo>
                    <a:cubicBezTo>
                      <a:pt x="22436" y="317057"/>
                      <a:pt x="14670" y="313840"/>
                      <a:pt x="8943" y="308114"/>
                    </a:cubicBezTo>
                    <a:cubicBezTo>
                      <a:pt x="3217" y="302387"/>
                      <a:pt x="0" y="294621"/>
                      <a:pt x="0" y="286522"/>
                    </a:cubicBezTo>
                    <a:lnTo>
                      <a:pt x="0" y="30535"/>
                    </a:lnTo>
                    <a:cubicBezTo>
                      <a:pt x="0" y="22436"/>
                      <a:pt x="3217" y="14670"/>
                      <a:pt x="8943" y="8943"/>
                    </a:cubicBezTo>
                    <a:cubicBezTo>
                      <a:pt x="14670" y="3217"/>
                      <a:pt x="22436" y="0"/>
                      <a:pt x="305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937717" cy="345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1873" y="358813"/>
              <a:ext cx="5762617" cy="347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4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egrated Care, Better Outcomes.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834224" y="8277615"/>
            <a:ext cx="1801160" cy="1621044"/>
          </a:xfrm>
          <a:custGeom>
            <a:avLst/>
            <a:gdLst/>
            <a:ahLst/>
            <a:cxnLst/>
            <a:rect r="r" b="b" t="t" l="l"/>
            <a:pathLst>
              <a:path h="1621044" w="1801160">
                <a:moveTo>
                  <a:pt x="0" y="0"/>
                </a:moveTo>
                <a:lnTo>
                  <a:pt x="1801159" y="0"/>
                </a:lnTo>
                <a:lnTo>
                  <a:pt x="1801159" y="1621044"/>
                </a:lnTo>
                <a:lnTo>
                  <a:pt x="0" y="1621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513424" y="6725705"/>
            <a:ext cx="3600890" cy="5065190"/>
          </a:xfrm>
          <a:custGeom>
            <a:avLst/>
            <a:gdLst/>
            <a:ahLst/>
            <a:cxnLst/>
            <a:rect r="r" b="b" t="t" l="l"/>
            <a:pathLst>
              <a:path h="5065190" w="3600890">
                <a:moveTo>
                  <a:pt x="0" y="0"/>
                </a:moveTo>
                <a:lnTo>
                  <a:pt x="3600889" y="0"/>
                </a:lnTo>
                <a:lnTo>
                  <a:pt x="3600889" y="5065190"/>
                </a:lnTo>
                <a:lnTo>
                  <a:pt x="0" y="50651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16926" y="7895697"/>
            <a:ext cx="1808466" cy="1621044"/>
          </a:xfrm>
          <a:custGeom>
            <a:avLst/>
            <a:gdLst/>
            <a:ahLst/>
            <a:cxnLst/>
            <a:rect r="r" b="b" t="t" l="l"/>
            <a:pathLst>
              <a:path h="1621044" w="1808466">
                <a:moveTo>
                  <a:pt x="0" y="0"/>
                </a:moveTo>
                <a:lnTo>
                  <a:pt x="1808466" y="0"/>
                </a:lnTo>
                <a:lnTo>
                  <a:pt x="1808466" y="1621043"/>
                </a:lnTo>
                <a:lnTo>
                  <a:pt x="0" y="16210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21440" y="1784076"/>
            <a:ext cx="11109282" cy="19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&amp; Future-Scope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8710" y="3918209"/>
            <a:ext cx="9113364" cy="366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8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Challenges: Distinguishing between physical activity (normal HR rise) and clinical distress (abnormal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HR rise).</a:t>
            </a:r>
          </a:p>
          <a:p>
            <a:pPr algn="l">
              <a:lnSpc>
                <a:spcPts val="2883"/>
              </a:lnSpc>
            </a:pPr>
          </a:p>
          <a:p>
            <a:pPr algn="l" marL="604519" indent="-302260" lvl="1">
              <a:lnSpc>
                <a:spcPts val="28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Scope:</a:t>
            </a:r>
          </a:p>
          <a:p>
            <a:pPr algn="l" marL="604519" indent="-302260" lvl="1">
              <a:lnSpc>
                <a:spcPts val="28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​1. Real-time API integration with wearable sensors (Pulse Oximeters).</a:t>
            </a:r>
          </a:p>
          <a:p>
            <a:pPr algn="l">
              <a:lnSpc>
                <a:spcPts val="2883"/>
              </a:lnSpc>
            </a:pPr>
          </a:p>
          <a:p>
            <a:pPr algn="l" marL="604519" indent="-302260" lvl="1">
              <a:lnSpc>
                <a:spcPts val="2883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2. Predictive SMS alerts to emergency contacts.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8221" y="3705231"/>
            <a:ext cx="2122159" cy="2122159"/>
          </a:xfrm>
          <a:custGeom>
            <a:avLst/>
            <a:gdLst/>
            <a:ahLst/>
            <a:cxnLst/>
            <a:rect r="r" b="b" t="t" l="l"/>
            <a:pathLst>
              <a:path h="2122159" w="2122159">
                <a:moveTo>
                  <a:pt x="0" y="0"/>
                </a:moveTo>
                <a:lnTo>
                  <a:pt x="2122159" y="0"/>
                </a:lnTo>
                <a:lnTo>
                  <a:pt x="2122159" y="2122159"/>
                </a:lnTo>
                <a:lnTo>
                  <a:pt x="0" y="2122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7245" y="611972"/>
            <a:ext cx="5747251" cy="5747251"/>
          </a:xfrm>
          <a:custGeom>
            <a:avLst/>
            <a:gdLst/>
            <a:ahLst/>
            <a:cxnLst/>
            <a:rect r="r" b="b" t="t" l="l"/>
            <a:pathLst>
              <a:path h="5747251" w="5747251">
                <a:moveTo>
                  <a:pt x="0" y="0"/>
                </a:moveTo>
                <a:lnTo>
                  <a:pt x="5747251" y="0"/>
                </a:lnTo>
                <a:lnTo>
                  <a:pt x="5747251" y="5747250"/>
                </a:lnTo>
                <a:lnTo>
                  <a:pt x="0" y="574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47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03424" y="297259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0109" y="5505615"/>
            <a:ext cx="17223513" cy="4273343"/>
            <a:chOff x="0" y="0"/>
            <a:chExt cx="22964684" cy="569779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86949" y="319768"/>
              <a:ext cx="22477734" cy="5378023"/>
              <a:chOff x="0" y="0"/>
              <a:chExt cx="3468786" cy="82994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468786" cy="829942"/>
              </a:xfrm>
              <a:custGeom>
                <a:avLst/>
                <a:gdLst/>
                <a:ahLst/>
                <a:cxnLst/>
                <a:rect r="r" b="b" t="t" l="l"/>
                <a:pathLst>
                  <a:path h="829942" w="3468786">
                    <a:moveTo>
                      <a:pt x="8969" y="0"/>
                    </a:moveTo>
                    <a:lnTo>
                      <a:pt x="3459816" y="0"/>
                    </a:lnTo>
                    <a:cubicBezTo>
                      <a:pt x="3464770" y="0"/>
                      <a:pt x="3468786" y="4016"/>
                      <a:pt x="3468786" y="8969"/>
                    </a:cubicBezTo>
                    <a:lnTo>
                      <a:pt x="3468786" y="820972"/>
                    </a:lnTo>
                    <a:cubicBezTo>
                      <a:pt x="3468786" y="823351"/>
                      <a:pt x="3467841" y="825633"/>
                      <a:pt x="3466159" y="827315"/>
                    </a:cubicBezTo>
                    <a:cubicBezTo>
                      <a:pt x="3464477" y="828997"/>
                      <a:pt x="3462195" y="829942"/>
                      <a:pt x="3459816" y="829942"/>
                    </a:cubicBezTo>
                    <a:lnTo>
                      <a:pt x="8969" y="829942"/>
                    </a:lnTo>
                    <a:cubicBezTo>
                      <a:pt x="6591" y="829942"/>
                      <a:pt x="4309" y="828997"/>
                      <a:pt x="2627" y="827315"/>
                    </a:cubicBezTo>
                    <a:cubicBezTo>
                      <a:pt x="945" y="825633"/>
                      <a:pt x="0" y="823351"/>
                      <a:pt x="0" y="820972"/>
                    </a:cubicBezTo>
                    <a:lnTo>
                      <a:pt x="0" y="8969"/>
                    </a:lnTo>
                    <a:cubicBezTo>
                      <a:pt x="0" y="6591"/>
                      <a:pt x="945" y="4309"/>
                      <a:pt x="2627" y="2627"/>
                    </a:cubicBezTo>
                    <a:cubicBezTo>
                      <a:pt x="4309" y="945"/>
                      <a:pt x="6591" y="0"/>
                      <a:pt x="8969" y="0"/>
                    </a:cubicBezTo>
                    <a:close/>
                  </a:path>
                </a:pathLst>
              </a:custGeom>
              <a:solidFill>
                <a:srgbClr val="A7C1D2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3468786" cy="858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2477734" cy="5378023"/>
              <a:chOff x="0" y="0"/>
              <a:chExt cx="3468786" cy="82994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468786" cy="829942"/>
              </a:xfrm>
              <a:custGeom>
                <a:avLst/>
                <a:gdLst/>
                <a:ahLst/>
                <a:cxnLst/>
                <a:rect r="r" b="b" t="t" l="l"/>
                <a:pathLst>
                  <a:path h="829942" w="3468786">
                    <a:moveTo>
                      <a:pt x="8969" y="0"/>
                    </a:moveTo>
                    <a:lnTo>
                      <a:pt x="3459816" y="0"/>
                    </a:lnTo>
                    <a:cubicBezTo>
                      <a:pt x="3464770" y="0"/>
                      <a:pt x="3468786" y="4016"/>
                      <a:pt x="3468786" y="8969"/>
                    </a:cubicBezTo>
                    <a:lnTo>
                      <a:pt x="3468786" y="820972"/>
                    </a:lnTo>
                    <a:cubicBezTo>
                      <a:pt x="3468786" y="823351"/>
                      <a:pt x="3467841" y="825633"/>
                      <a:pt x="3466159" y="827315"/>
                    </a:cubicBezTo>
                    <a:cubicBezTo>
                      <a:pt x="3464477" y="828997"/>
                      <a:pt x="3462195" y="829942"/>
                      <a:pt x="3459816" y="829942"/>
                    </a:cubicBezTo>
                    <a:lnTo>
                      <a:pt x="8969" y="829942"/>
                    </a:lnTo>
                    <a:cubicBezTo>
                      <a:pt x="6591" y="829942"/>
                      <a:pt x="4309" y="828997"/>
                      <a:pt x="2627" y="827315"/>
                    </a:cubicBezTo>
                    <a:cubicBezTo>
                      <a:pt x="945" y="825633"/>
                      <a:pt x="0" y="823351"/>
                      <a:pt x="0" y="820972"/>
                    </a:cubicBezTo>
                    <a:lnTo>
                      <a:pt x="0" y="8969"/>
                    </a:lnTo>
                    <a:cubicBezTo>
                      <a:pt x="0" y="6591"/>
                      <a:pt x="945" y="4309"/>
                      <a:pt x="2627" y="2627"/>
                    </a:cubicBezTo>
                    <a:cubicBezTo>
                      <a:pt x="4309" y="945"/>
                      <a:pt x="6591" y="0"/>
                      <a:pt x="89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3468786" cy="858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5645451" y="3705231"/>
            <a:ext cx="6997097" cy="1425763"/>
            <a:chOff x="0" y="0"/>
            <a:chExt cx="9329463" cy="190101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97825" y="106688"/>
              <a:ext cx="9131638" cy="1794330"/>
              <a:chOff x="0" y="0"/>
              <a:chExt cx="3468786" cy="68160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468786" cy="681602"/>
              </a:xfrm>
              <a:custGeom>
                <a:avLst/>
                <a:gdLst/>
                <a:ahLst/>
                <a:cxnLst/>
                <a:rect r="r" b="b" t="t" l="l"/>
                <a:pathLst>
                  <a:path h="681602" w="3468786">
                    <a:moveTo>
                      <a:pt x="22078" y="0"/>
                    </a:moveTo>
                    <a:lnTo>
                      <a:pt x="3446707" y="0"/>
                    </a:lnTo>
                    <a:cubicBezTo>
                      <a:pt x="3458901" y="0"/>
                      <a:pt x="3468786" y="9885"/>
                      <a:pt x="3468786" y="22078"/>
                    </a:cubicBezTo>
                    <a:lnTo>
                      <a:pt x="3468786" y="659524"/>
                    </a:lnTo>
                    <a:cubicBezTo>
                      <a:pt x="3468786" y="665379"/>
                      <a:pt x="3466460" y="670995"/>
                      <a:pt x="3462319" y="675136"/>
                    </a:cubicBezTo>
                    <a:cubicBezTo>
                      <a:pt x="3458179" y="679276"/>
                      <a:pt x="3452563" y="681602"/>
                      <a:pt x="3446707" y="681602"/>
                    </a:cubicBezTo>
                    <a:lnTo>
                      <a:pt x="22078" y="681602"/>
                    </a:lnTo>
                    <a:cubicBezTo>
                      <a:pt x="16223" y="681602"/>
                      <a:pt x="10607" y="679276"/>
                      <a:pt x="6467" y="675136"/>
                    </a:cubicBezTo>
                    <a:cubicBezTo>
                      <a:pt x="2326" y="670995"/>
                      <a:pt x="0" y="665379"/>
                      <a:pt x="0" y="659524"/>
                    </a:cubicBezTo>
                    <a:lnTo>
                      <a:pt x="0" y="22078"/>
                    </a:lnTo>
                    <a:cubicBezTo>
                      <a:pt x="0" y="16223"/>
                      <a:pt x="2326" y="10607"/>
                      <a:pt x="6467" y="6467"/>
                    </a:cubicBezTo>
                    <a:cubicBezTo>
                      <a:pt x="10607" y="2326"/>
                      <a:pt x="16223" y="0"/>
                      <a:pt x="22078" y="0"/>
                    </a:cubicBezTo>
                    <a:close/>
                  </a:path>
                </a:pathLst>
              </a:custGeom>
              <a:solidFill>
                <a:srgbClr val="A7C1D2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3468786" cy="710177"/>
              </a:xfrm>
              <a:prstGeom prst="rect">
                <a:avLst/>
              </a:prstGeom>
            </p:spPr>
            <p:txBody>
              <a:bodyPr anchor="ctr" rtlCol="false" tIns="20638" lIns="20638" bIns="20638" rIns="20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9131638" cy="1794330"/>
              <a:chOff x="0" y="0"/>
              <a:chExt cx="3468786" cy="68160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68786" cy="681602"/>
              </a:xfrm>
              <a:custGeom>
                <a:avLst/>
                <a:gdLst/>
                <a:ahLst/>
                <a:cxnLst/>
                <a:rect r="r" b="b" t="t" l="l"/>
                <a:pathLst>
                  <a:path h="681602" w="3468786">
                    <a:moveTo>
                      <a:pt x="22078" y="0"/>
                    </a:moveTo>
                    <a:lnTo>
                      <a:pt x="3446707" y="0"/>
                    </a:lnTo>
                    <a:cubicBezTo>
                      <a:pt x="3458901" y="0"/>
                      <a:pt x="3468786" y="9885"/>
                      <a:pt x="3468786" y="22078"/>
                    </a:cubicBezTo>
                    <a:lnTo>
                      <a:pt x="3468786" y="659524"/>
                    </a:lnTo>
                    <a:cubicBezTo>
                      <a:pt x="3468786" y="665379"/>
                      <a:pt x="3466460" y="670995"/>
                      <a:pt x="3462319" y="675136"/>
                    </a:cubicBezTo>
                    <a:cubicBezTo>
                      <a:pt x="3458179" y="679276"/>
                      <a:pt x="3452563" y="681602"/>
                      <a:pt x="3446707" y="681602"/>
                    </a:cubicBezTo>
                    <a:lnTo>
                      <a:pt x="22078" y="681602"/>
                    </a:lnTo>
                    <a:cubicBezTo>
                      <a:pt x="16223" y="681602"/>
                      <a:pt x="10607" y="679276"/>
                      <a:pt x="6467" y="675136"/>
                    </a:cubicBezTo>
                    <a:cubicBezTo>
                      <a:pt x="2326" y="670995"/>
                      <a:pt x="0" y="665379"/>
                      <a:pt x="0" y="659524"/>
                    </a:cubicBezTo>
                    <a:lnTo>
                      <a:pt x="0" y="22078"/>
                    </a:lnTo>
                    <a:cubicBezTo>
                      <a:pt x="0" y="16223"/>
                      <a:pt x="2326" y="10607"/>
                      <a:pt x="6467" y="6467"/>
                    </a:cubicBezTo>
                    <a:cubicBezTo>
                      <a:pt x="10607" y="2326"/>
                      <a:pt x="16223" y="0"/>
                      <a:pt x="220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3468786" cy="710177"/>
              </a:xfrm>
              <a:prstGeom prst="rect">
                <a:avLst/>
              </a:prstGeom>
            </p:spPr>
            <p:txBody>
              <a:bodyPr anchor="ctr" rtlCol="false" tIns="20638" lIns="20638" bIns="20638" rIns="20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621440" y="1575428"/>
            <a:ext cx="11109282" cy="10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Uniqueness &amp; 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42943" y="3966233"/>
            <a:ext cx="6053746" cy="81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Commitment to Professional Excel</a:t>
            </a:r>
            <a:r>
              <a:rPr lang="en-US" b="true" sz="2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826489" y="706423"/>
            <a:ext cx="1808466" cy="1621044"/>
          </a:xfrm>
          <a:custGeom>
            <a:avLst/>
            <a:gdLst/>
            <a:ahLst/>
            <a:cxnLst/>
            <a:rect r="r" b="b" t="t" l="l"/>
            <a:pathLst>
              <a:path h="1621044" w="1808466">
                <a:moveTo>
                  <a:pt x="0" y="0"/>
                </a:moveTo>
                <a:lnTo>
                  <a:pt x="1808466" y="0"/>
                </a:lnTo>
                <a:lnTo>
                  <a:pt x="1808466" y="1621043"/>
                </a:lnTo>
                <a:lnTo>
                  <a:pt x="0" y="16210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5990085"/>
            <a:ext cx="1458728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Difference: Most EWS solutions are har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dware-locked and expensive. Our software-first approach works on any browser.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Novelty: We use Linear Regression slopes as a primary metric, which is far more accurate than standard "Min/Max" alarms.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 We are providing "ICU-level intelligence" at zero hardware cost.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9098">
            <a:off x="-1893406" y="5527367"/>
            <a:ext cx="21767755" cy="7121539"/>
            <a:chOff x="0" y="0"/>
            <a:chExt cx="29023673" cy="949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39231" y="0"/>
              <a:ext cx="27884442" cy="7127249"/>
            </a:xfrm>
            <a:custGeom>
              <a:avLst/>
              <a:gdLst/>
              <a:ahLst/>
              <a:cxnLst/>
              <a:rect r="r" b="b" t="t" l="l"/>
              <a:pathLst>
                <a:path h="7127249" w="27884442">
                  <a:moveTo>
                    <a:pt x="0" y="0"/>
                  </a:moveTo>
                  <a:lnTo>
                    <a:pt x="27884442" y="0"/>
                  </a:lnTo>
                  <a:lnTo>
                    <a:pt x="27884442" y="7127249"/>
                  </a:lnTo>
                  <a:lnTo>
                    <a:pt x="0" y="712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90293">
              <a:off x="66586" y="3713766"/>
              <a:ext cx="27097946" cy="5426730"/>
            </a:xfrm>
            <a:custGeom>
              <a:avLst/>
              <a:gdLst/>
              <a:ahLst/>
              <a:cxnLst/>
              <a:rect r="r" b="b" t="t" l="l"/>
              <a:pathLst>
                <a:path h="5426730" w="27097946">
                  <a:moveTo>
                    <a:pt x="0" y="0"/>
                  </a:moveTo>
                  <a:lnTo>
                    <a:pt x="27097946" y="0"/>
                  </a:lnTo>
                  <a:lnTo>
                    <a:pt x="27097946" y="5426730"/>
                  </a:lnTo>
                  <a:lnTo>
                    <a:pt x="0" y="5426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1440" y="1454389"/>
            <a:ext cx="11109282" cy="105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7599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19161" y="1028700"/>
            <a:ext cx="680278" cy="680278"/>
          </a:xfrm>
          <a:custGeom>
            <a:avLst/>
            <a:gdLst/>
            <a:ahLst/>
            <a:cxnLst/>
            <a:rect r="r" b="b" t="t" l="l"/>
            <a:pathLst>
              <a:path h="680278" w="680278">
                <a:moveTo>
                  <a:pt x="0" y="0"/>
                </a:moveTo>
                <a:lnTo>
                  <a:pt x="680278" y="0"/>
                </a:lnTo>
                <a:lnTo>
                  <a:pt x="680278" y="680278"/>
                </a:lnTo>
                <a:lnTo>
                  <a:pt x="0" y="680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3424" y="399274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1" y="0"/>
                </a:lnTo>
                <a:lnTo>
                  <a:pt x="636031" y="629426"/>
                </a:lnTo>
                <a:lnTo>
                  <a:pt x="0" y="6294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16931" y="7061470"/>
            <a:ext cx="3870219" cy="3870219"/>
          </a:xfrm>
          <a:custGeom>
            <a:avLst/>
            <a:gdLst/>
            <a:ahLst/>
            <a:cxnLst/>
            <a:rect r="r" b="b" t="t" l="l"/>
            <a:pathLst>
              <a:path h="3870219" w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04122" y="3993971"/>
            <a:ext cx="9417305" cy="4875546"/>
            <a:chOff x="0" y="0"/>
            <a:chExt cx="1937717" cy="10031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A7C1D2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0109" y="3704079"/>
            <a:ext cx="9417305" cy="4875546"/>
            <a:chOff x="0" y="0"/>
            <a:chExt cx="1937717" cy="10031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7717" cy="1003199"/>
            </a:xfrm>
            <a:custGeom>
              <a:avLst/>
              <a:gdLst/>
              <a:ahLst/>
              <a:cxnLst/>
              <a:rect r="r" b="b" t="t" l="l"/>
              <a:pathLst>
                <a:path h="1003199" w="193771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207827" y="4613521"/>
            <a:ext cx="6733309" cy="8229600"/>
          </a:xfrm>
          <a:custGeom>
            <a:avLst/>
            <a:gdLst/>
            <a:ahLst/>
            <a:cxnLst/>
            <a:rect r="r" b="b" t="t" l="l"/>
            <a:pathLst>
              <a:path h="8229600" w="6733309">
                <a:moveTo>
                  <a:pt x="0" y="0"/>
                </a:moveTo>
                <a:lnTo>
                  <a:pt x="6733309" y="0"/>
                </a:lnTo>
                <a:lnTo>
                  <a:pt x="67333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87150" y="1241397"/>
            <a:ext cx="4488444" cy="4488444"/>
          </a:xfrm>
          <a:custGeom>
            <a:avLst/>
            <a:gdLst/>
            <a:ahLst/>
            <a:cxnLst/>
            <a:rect r="r" b="b" t="t" l="l"/>
            <a:pathLst>
              <a:path h="4488444" w="4488444">
                <a:moveTo>
                  <a:pt x="0" y="0"/>
                </a:moveTo>
                <a:lnTo>
                  <a:pt x="4488444" y="0"/>
                </a:lnTo>
                <a:lnTo>
                  <a:pt x="4488444" y="4488445"/>
                </a:lnTo>
                <a:lnTo>
                  <a:pt x="0" y="448844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9525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857651" y="4299238"/>
            <a:ext cx="8286349" cy="287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383" indent="-377691" lvl="1">
              <a:lnSpc>
                <a:spcPts val="377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We’ve built EWS to ensure that no patient's deterioration goes u</a:t>
            </a: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nnoticed. We're turning "noise" into "notice."</a:t>
            </a:r>
          </a:p>
          <a:p>
            <a:pPr algn="l" marL="755383" indent="-377691" lvl="1">
              <a:lnSpc>
                <a:spcPts val="377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for your time and for the opportunity!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68914" y="9050431"/>
            <a:ext cx="7702181" cy="425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32"/>
              </a:lnSpc>
            </a:pP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Healthcar</a:t>
            </a:r>
            <a:r>
              <a:rPr lang="en-US" b="true" sz="2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e, Brighter Tomorrow.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10685" y="526441"/>
            <a:ext cx="636031" cy="629426"/>
          </a:xfrm>
          <a:custGeom>
            <a:avLst/>
            <a:gdLst/>
            <a:ahLst/>
            <a:cxnLst/>
            <a:rect r="r" b="b" t="t" l="l"/>
            <a:pathLst>
              <a:path h="629426" w="636031">
                <a:moveTo>
                  <a:pt x="0" y="0"/>
                </a:moveTo>
                <a:lnTo>
                  <a:pt x="636030" y="0"/>
                </a:lnTo>
                <a:lnTo>
                  <a:pt x="636030" y="629425"/>
                </a:lnTo>
                <a:lnTo>
                  <a:pt x="0" y="6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7188" y="8916675"/>
            <a:ext cx="2512684" cy="2512684"/>
          </a:xfrm>
          <a:custGeom>
            <a:avLst/>
            <a:gdLst/>
            <a:ahLst/>
            <a:cxnLst/>
            <a:rect r="r" b="b" t="t" l="l"/>
            <a:pathLst>
              <a:path h="2512684" w="2512684">
                <a:moveTo>
                  <a:pt x="0" y="0"/>
                </a:moveTo>
                <a:lnTo>
                  <a:pt x="2512684" y="0"/>
                </a:lnTo>
                <a:lnTo>
                  <a:pt x="2512684" y="2512685"/>
                </a:lnTo>
                <a:lnTo>
                  <a:pt x="0" y="2512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66798" y="1028700"/>
            <a:ext cx="1777202" cy="1767508"/>
          </a:xfrm>
          <a:custGeom>
            <a:avLst/>
            <a:gdLst/>
            <a:ahLst/>
            <a:cxnLst/>
            <a:rect r="r" b="b" t="t" l="l"/>
            <a:pathLst>
              <a:path h="1767508" w="1777202">
                <a:moveTo>
                  <a:pt x="0" y="0"/>
                </a:moveTo>
                <a:lnTo>
                  <a:pt x="1777202" y="0"/>
                </a:lnTo>
                <a:lnTo>
                  <a:pt x="1777202" y="1767508"/>
                </a:lnTo>
                <a:lnTo>
                  <a:pt x="0" y="1767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77754" y="2425530"/>
            <a:ext cx="8444552" cy="8229600"/>
          </a:xfrm>
          <a:custGeom>
            <a:avLst/>
            <a:gdLst/>
            <a:ahLst/>
            <a:cxnLst/>
            <a:rect r="r" b="b" t="t" l="l"/>
            <a:pathLst>
              <a:path h="8229600" w="8444552">
                <a:moveTo>
                  <a:pt x="0" y="0"/>
                </a:moveTo>
                <a:lnTo>
                  <a:pt x="8444552" y="0"/>
                </a:lnTo>
                <a:lnTo>
                  <a:pt x="84445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68914" y="4148362"/>
            <a:ext cx="7342970" cy="144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953"/>
              </a:lnSpc>
            </a:pPr>
            <a:r>
              <a:rPr lang="en-US" sz="10368" b="true">
                <a:solidFill>
                  <a:srgbClr val="4590B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DAHHGTBT6K8</dc:identifier>
  <dcterms:modified xsi:type="dcterms:W3CDTF">2011-08-01T06:04:30Z</dcterms:modified>
  <cp:revision>1</cp:revision>
  <dc:title>Blue and White Illustration Medical Health Care Presentation</dc:title>
</cp:coreProperties>
</file>